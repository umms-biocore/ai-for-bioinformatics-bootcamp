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7" r:id="rId3"/>
    <p:sldId id="300" r:id="rId4"/>
    <p:sldId id="376" r:id="rId5"/>
    <p:sldId id="395" r:id="rId6"/>
    <p:sldId id="396" r:id="rId7"/>
    <p:sldId id="397" r:id="rId8"/>
    <p:sldId id="398" r:id="rId9"/>
    <p:sldId id="399" r:id="rId10"/>
    <p:sldId id="4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CE5DB"/>
    <a:srgbClr val="ECBEBD"/>
    <a:srgbClr val="D1E0F2"/>
    <a:srgbClr val="E5E5E5"/>
    <a:srgbClr val="56B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03E32-116D-1542-9E02-9AB09112AB2C}" v="37" dt="2026-10-23T02:07:28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5"/>
    <p:restoredTop sz="85000"/>
  </p:normalViewPr>
  <p:slideViewPr>
    <p:cSldViewPr snapToGrid="0" snapToObjects="1">
      <p:cViewPr varScale="1">
        <p:scale>
          <a:sx n="106" d="100"/>
          <a:sy n="106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3AE59-51AB-A246-952A-CF1F6EB8B81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9637B-776C-1F44-A4BB-B75EFD1A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79637B-776C-1F44-A4BB-B75EFD1A70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06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79637B-776C-1F44-A4BB-B75EFD1A70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39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9637B-776C-1F44-A4BB-B75EFD1A70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9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9637B-776C-1F44-A4BB-B75EFD1A70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8B44C-9B04-3948-84EC-7D9D2AE058F4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1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BFE9-17D7-4047-A8EA-E8EA7FFCA00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125F-E572-6048-82ED-8EF9C481ECFA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3967-448A-CC46-8BFC-CF353F0C2890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63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EC3D-0B23-7747-8BAA-F9DD9F449FA4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4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A4E6-DA92-5742-BE16-4A6E6C6DE37C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7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E453-171D-F740-B6CA-A9B36CAE3A9D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3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E1B4-ADD7-AB46-9F33-626AE81BEC12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8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6A78-92AE-494A-A396-BD73511F29B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0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7C3A-A814-5546-B9E6-0DF88014F62A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5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2E72-EB42-F242-8480-1B4924816D32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4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395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886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484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Google Shape;29;p6"/>
          <p:cNvSpPr/>
          <p:nvPr/>
        </p:nvSpPr>
        <p:spPr>
          <a:xfrm>
            <a:off x="0" y="0"/>
            <a:ext cx="12192000" cy="6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01600" y="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1" name="Google Shape;31;p6"/>
          <p:cNvCxnSpPr/>
          <p:nvPr/>
        </p:nvCxnSpPr>
        <p:spPr>
          <a:xfrm>
            <a:off x="-7400" y="649500"/>
            <a:ext cx="12206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14758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1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535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281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8403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044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64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BE4D4-A459-C543-A847-B221473A0F3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3CECF-CD5D-0046-8648-8E6E5B64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sz="28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  <a:defRPr sz="1800"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○"/>
              <a:defRPr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■"/>
              <a:defRPr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●"/>
              <a:defRPr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○"/>
              <a:defRPr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■"/>
              <a:defRPr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●"/>
              <a:defRPr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bin"/>
              <a:buChar char="○"/>
              <a:defRPr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abin"/>
              <a:buChar char="■"/>
              <a:defRPr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8634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79134"/>
            <a:ext cx="12191999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cap="small" dirty="0">
                <a:latin typeface="Helvetica Light" charset="0"/>
                <a:ea typeface="Helvetica Light" charset="0"/>
                <a:cs typeface="Helvetica Light" charset="0"/>
              </a:rPr>
              <a:t>A few words on spatial data</a:t>
            </a:r>
          </a:p>
        </p:txBody>
      </p:sp>
    </p:spTree>
    <p:extLst>
      <p:ext uri="{BB962C8B-B14F-4D97-AF65-F5344CB8AC3E}">
        <p14:creationId xmlns:p14="http://schemas.microsoft.com/office/powerpoint/2010/main" val="36760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89"/>
    </mc:Choice>
    <mc:Fallback xmlns="">
      <p:transition spd="slow" advTm="93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93FE-D0F0-6F0A-ABD5-D24C04EE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Idiosyncrasies of </a:t>
            </a:r>
            <a:r>
              <a:rPr lang="en-US" dirty="0" err="1"/>
              <a:t>s.c.</a:t>
            </a:r>
            <a:r>
              <a:rPr lang="en-US" dirty="0"/>
              <a:t>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36142E-5DE7-0D6C-A58B-50262FFEC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436357"/>
              </p:ext>
            </p:extLst>
          </p:nvPr>
        </p:nvGraphicFramePr>
        <p:xfrm>
          <a:off x="297620" y="4333045"/>
          <a:ext cx="3680614" cy="222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150">
                  <a:extLst>
                    <a:ext uri="{9D8B030D-6E8A-4147-A177-3AD203B41FA5}">
                      <a16:colId xmlns:a16="http://schemas.microsoft.com/office/drawing/2014/main" val="53130172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4164038817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259004811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3970078331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1462517164"/>
                    </a:ext>
                  </a:extLst>
                </a:gridCol>
              </a:tblGrid>
              <a:tr h="6488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742145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r>
                        <a:rPr lang="en-US" sz="1400" dirty="0"/>
                        <a:t>Gene1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271722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r>
                        <a:rPr lang="en-US" sz="1400" dirty="0"/>
                        <a:t>Gene1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41578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r>
                        <a:rPr lang="en-US" sz="1400" dirty="0"/>
                        <a:t>Gene1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40889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22B9630-3A44-35E5-8926-72453ABF2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566" y="693462"/>
            <a:ext cx="7772400" cy="310896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96D9DD-6277-1FBD-9BE6-A2BCBCDED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408021"/>
              </p:ext>
            </p:extLst>
          </p:nvPr>
        </p:nvGraphicFramePr>
        <p:xfrm>
          <a:off x="4468459" y="4333044"/>
          <a:ext cx="3680614" cy="222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150">
                  <a:extLst>
                    <a:ext uri="{9D8B030D-6E8A-4147-A177-3AD203B41FA5}">
                      <a16:colId xmlns:a16="http://schemas.microsoft.com/office/drawing/2014/main" val="53130172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4164038817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259004811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3970078331"/>
                    </a:ext>
                  </a:extLst>
                </a:gridCol>
                <a:gridCol w="734366">
                  <a:extLst>
                    <a:ext uri="{9D8B030D-6E8A-4147-A177-3AD203B41FA5}">
                      <a16:colId xmlns:a16="http://schemas.microsoft.com/office/drawing/2014/main" val="1462517164"/>
                    </a:ext>
                  </a:extLst>
                </a:gridCol>
              </a:tblGrid>
              <a:tr h="6488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Sample_cell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Sample_cell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Sample_cell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742145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r>
                        <a:rPr lang="en-US" sz="1400" dirty="0"/>
                        <a:t>Gene1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271722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r>
                        <a:rPr lang="en-US" sz="1400" dirty="0"/>
                        <a:t>Gene1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41578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r>
                        <a:rPr lang="en-US" sz="1400" dirty="0"/>
                        <a:t>Gene1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40889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A5E647-FBCD-6D47-F7AB-D6D0D346C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648909"/>
              </p:ext>
            </p:extLst>
          </p:nvPr>
        </p:nvGraphicFramePr>
        <p:xfrm>
          <a:off x="8354657" y="4333043"/>
          <a:ext cx="3449416" cy="222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938">
                  <a:extLst>
                    <a:ext uri="{9D8B030D-6E8A-4147-A177-3AD203B41FA5}">
                      <a16:colId xmlns:a16="http://schemas.microsoft.com/office/drawing/2014/main" val="53130172"/>
                    </a:ext>
                  </a:extLst>
                </a:gridCol>
                <a:gridCol w="1145239">
                  <a:extLst>
                    <a:ext uri="{9D8B030D-6E8A-4147-A177-3AD203B41FA5}">
                      <a16:colId xmlns:a16="http://schemas.microsoft.com/office/drawing/2014/main" val="4164038817"/>
                    </a:ext>
                  </a:extLst>
                </a:gridCol>
                <a:gridCol w="1145239">
                  <a:extLst>
                    <a:ext uri="{9D8B030D-6E8A-4147-A177-3AD203B41FA5}">
                      <a16:colId xmlns:a16="http://schemas.microsoft.com/office/drawing/2014/main" val="259004811"/>
                    </a:ext>
                  </a:extLst>
                </a:gridCol>
              </a:tblGrid>
              <a:tr h="6488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742145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err="1"/>
                        <a:t>Sample_cell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Read counts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271722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err="1"/>
                        <a:t>Sample_cell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41578"/>
                  </a:ext>
                </a:extLst>
              </a:tr>
              <a:tr h="525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err="1"/>
                        <a:t>Sample_cell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4088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8ED15E3-46E9-5968-AF1F-B8C21CD474DA}"/>
              </a:ext>
            </a:extLst>
          </p:cNvPr>
          <p:cNvSpPr/>
          <p:nvPr/>
        </p:nvSpPr>
        <p:spPr>
          <a:xfrm>
            <a:off x="2422566" y="693462"/>
            <a:ext cx="2045893" cy="31089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63DA2-F507-BA67-8C56-8A867EABD88A}"/>
              </a:ext>
            </a:extLst>
          </p:cNvPr>
          <p:cNvSpPr/>
          <p:nvPr/>
        </p:nvSpPr>
        <p:spPr>
          <a:xfrm>
            <a:off x="4570020" y="993841"/>
            <a:ext cx="2935185" cy="31089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133B0-1A5B-E72E-EC7A-A7B0C864C87F}"/>
              </a:ext>
            </a:extLst>
          </p:cNvPr>
          <p:cNvSpPr/>
          <p:nvPr/>
        </p:nvSpPr>
        <p:spPr>
          <a:xfrm>
            <a:off x="7750006" y="3263799"/>
            <a:ext cx="2935185" cy="83900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001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03"/>
    </mc:Choice>
    <mc:Fallback xmlns="">
      <p:transition spd="slow" advTm="38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93FE-D0F0-6F0A-ABD5-D24C04EE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Idiosyncrasies of </a:t>
            </a:r>
            <a:r>
              <a:rPr lang="en-US" dirty="0" err="1"/>
              <a:t>s.c.</a:t>
            </a:r>
            <a:r>
              <a:rPr lang="en-US" dirty="0"/>
              <a:t>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F51F4-5A99-8762-CEEB-B48C0ADDB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662" y="744516"/>
            <a:ext cx="3724399" cy="16932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90735D-1B23-5F58-917F-F56F7D5153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212" r="2598"/>
          <a:stretch/>
        </p:blipFill>
        <p:spPr>
          <a:xfrm>
            <a:off x="804867" y="2528992"/>
            <a:ext cx="4550904" cy="4178907"/>
          </a:xfrm>
          <a:prstGeom prst="rect">
            <a:avLst/>
          </a:prstGeom>
        </p:spPr>
      </p:pic>
      <p:pic>
        <p:nvPicPr>
          <p:cNvPr id="9" name="Picture 8" descr="Chart, bubble chart&#10;&#10;Description automatically generated">
            <a:extLst>
              <a:ext uri="{FF2B5EF4-FFF2-40B4-BE49-F238E27FC236}">
                <a16:creationId xmlns:a16="http://schemas.microsoft.com/office/drawing/2014/main" id="{EA146C51-34FF-F9B7-BE36-2CCB58307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619987"/>
            <a:ext cx="2538070" cy="1812907"/>
          </a:xfrm>
          <a:prstGeom prst="rect">
            <a:avLst/>
          </a:prstGeom>
        </p:spPr>
      </p:pic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7DD07CF5-B3A4-CC39-A37D-E868F7E9D9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2833" y="893684"/>
            <a:ext cx="2775577" cy="1982555"/>
          </a:xfrm>
          <a:prstGeom prst="rect">
            <a:avLst/>
          </a:prstGeom>
        </p:spPr>
      </p:pic>
      <p:pic>
        <p:nvPicPr>
          <p:cNvPr id="15" name="Picture 14" descr="A picture containing chart&#10;&#10;Description automatically generated">
            <a:extLst>
              <a:ext uri="{FF2B5EF4-FFF2-40B4-BE49-F238E27FC236}">
                <a16:creationId xmlns:a16="http://schemas.microsoft.com/office/drawing/2014/main" id="{85DBDF5C-B758-F8EB-2C2B-C454F90A62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2833" y="4160397"/>
            <a:ext cx="2525487" cy="18039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714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03"/>
    </mc:Choice>
    <mc:Fallback xmlns="">
      <p:transition spd="slow" advTm="383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B602-486E-11C7-AAD8-E07DDC4F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single cell omics builds on regular single cell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2939A-CA3D-6E9E-55AD-0F3B71476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2000"/>
            <a:ext cx="6096000" cy="6096000"/>
          </a:xfrm>
          <a:prstGeom prst="rect">
            <a:avLst/>
          </a:prstGeom>
        </p:spPr>
      </p:pic>
      <p:pic>
        <p:nvPicPr>
          <p:cNvPr id="5" name="transition_animation_images_to_umap.mp4" descr="transition_animation_images_to_umap.mp4">
            <a:extLst>
              <a:ext uri="{FF2B5EF4-FFF2-40B4-BE49-F238E27FC236}">
                <a16:creationId xmlns:a16="http://schemas.microsoft.com/office/drawing/2014/main" id="{9941DEC0-6F66-9BBD-0512-0A6D427543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6000" y="762000"/>
            <a:ext cx="6126480" cy="6126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7423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10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0307-2AFF-9CBF-7797-817D4B46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C4A8-54F0-E5A5-6627-7826BE4D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single cell omics builds on regular single cell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1C2D3-82B3-10E4-046F-E8A6A6E89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6096000" cy="6096000"/>
          </a:xfrm>
          <a:prstGeom prst="rect">
            <a:avLst/>
          </a:prstGeom>
        </p:spPr>
      </p:pic>
      <p:pic>
        <p:nvPicPr>
          <p:cNvPr id="3" name="transition_animation_umap_to_images_initial_CellType.pub1.1.png" descr="transition_animation_umap_to_images_initial_CellType.pub1.1.png">
            <a:extLst>
              <a:ext uri="{FF2B5EF4-FFF2-40B4-BE49-F238E27FC236}">
                <a16:creationId xmlns:a16="http://schemas.microsoft.com/office/drawing/2014/main" id="{0E5FA275-F4AE-818E-DC55-B83EA91B7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2000"/>
            <a:ext cx="6126480" cy="6126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45949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4F76-A8ED-BE6E-182F-66EB04CF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7FE0-A49F-925C-2535-F786AE56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single cell omics builds on regular single cell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36151-2EF1-5BFC-CF83-70447821B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2000"/>
            <a:ext cx="6096000" cy="6096000"/>
          </a:xfrm>
          <a:prstGeom prst="rect">
            <a:avLst/>
          </a:prstGeom>
        </p:spPr>
      </p:pic>
      <p:pic>
        <p:nvPicPr>
          <p:cNvPr id="5" name="transition_animation_umap_to_images.mp4" descr="transition_animation_umap_to_images.mp4">
            <a:extLst>
              <a:ext uri="{FF2B5EF4-FFF2-40B4-BE49-F238E27FC236}">
                <a16:creationId xmlns:a16="http://schemas.microsoft.com/office/drawing/2014/main" id="{D131551E-EF96-CD33-299C-B479B18463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6000" y="762000"/>
            <a:ext cx="6126480" cy="6126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5849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10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EA6E-999C-790D-00C2-2AF60417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spatial?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47568-C3A0-3B82-F9DC-8CA197619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8353"/>
            <a:ext cx="7772400" cy="1951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8562FC-BF39-9AD2-9ECD-53450804F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973171"/>
            <a:ext cx="7772400" cy="2232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329-AA92-2BAC-52D5-8D1D5C0E3403}"/>
              </a:ext>
            </a:extLst>
          </p:cNvPr>
          <p:cNvSpPr txBox="1"/>
          <p:nvPr/>
        </p:nvSpPr>
        <p:spPr>
          <a:xfrm>
            <a:off x="299001" y="6488668"/>
            <a:ext cx="11892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Inferring communications based on ligand and receptor expression or even downstream targets is far from </a:t>
            </a:r>
            <a:r>
              <a:rPr lang="en-US" dirty="0" err="1"/>
              <a:t>optiomal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35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71B4-26C0-239F-F3CA-7CB835D8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can include proximity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571CAE-CBEB-890B-10AF-E273F5A9E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5"/>
          <a:stretch>
            <a:fillRect/>
          </a:stretch>
        </p:blipFill>
        <p:spPr>
          <a:xfrm>
            <a:off x="0" y="1567501"/>
            <a:ext cx="7483642" cy="4637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0F19EA-274A-4CDB-7F2C-40DA1358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763" y="872110"/>
            <a:ext cx="3248584" cy="59858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9D6636-D519-7779-F218-069DE3ECB9CB}"/>
              </a:ext>
            </a:extLst>
          </p:cNvPr>
          <p:cNvSpPr txBox="1"/>
          <p:nvPr/>
        </p:nvSpPr>
        <p:spPr>
          <a:xfrm>
            <a:off x="8211496" y="3528900"/>
            <a:ext cx="300789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3366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3C36-1149-DA55-7FEF-C082FEB2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technologies work the same way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7AFF6-B9A3-6633-4DA9-6762C4A69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65" y="1696453"/>
            <a:ext cx="10695235" cy="29670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665F9F-8B0B-4B95-8496-195BD33E136F}"/>
              </a:ext>
            </a:extLst>
          </p:cNvPr>
          <p:cNvSpPr/>
          <p:nvPr/>
        </p:nvSpPr>
        <p:spPr>
          <a:xfrm>
            <a:off x="5390147" y="1816768"/>
            <a:ext cx="1179095" cy="240632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A33CF-5B71-79A4-003A-87594F402B78}"/>
              </a:ext>
            </a:extLst>
          </p:cNvPr>
          <p:cNvSpPr/>
          <p:nvPr/>
        </p:nvSpPr>
        <p:spPr>
          <a:xfrm>
            <a:off x="9440778" y="1816768"/>
            <a:ext cx="1179095" cy="240632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51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 - custom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29863</TotalTime>
  <Words>134</Words>
  <Application>Microsoft Office PowerPoint</Application>
  <PresentationFormat>Widescreen</PresentationFormat>
  <Paragraphs>49</Paragraphs>
  <Slides>9</Slides>
  <Notes>4</Notes>
  <HiddenSlides>0</HiddenSlides>
  <MMClips>2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Simple light - custom</vt:lpstr>
      <vt:lpstr>PowerPoint Presentation</vt:lpstr>
      <vt:lpstr>Idiosyncrasies of s.c. data</vt:lpstr>
      <vt:lpstr>Idiosyncrasies of s.c. data</vt:lpstr>
      <vt:lpstr>Spatial single cell omics builds on regular single cell analysis</vt:lpstr>
      <vt:lpstr>Spatial single cell omics builds on regular single cell analysis</vt:lpstr>
      <vt:lpstr>Spatial single cell omics builds on regular single cell analysis</vt:lpstr>
      <vt:lpstr>Why spatial?</vt:lpstr>
      <vt:lpstr>Spatial can include proximity</vt:lpstr>
      <vt:lpstr>Not all technologies work the same 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Athma Pai</dc:creator>
  <cp:lastModifiedBy>Garber, Manuel</cp:lastModifiedBy>
  <cp:revision>332</cp:revision>
  <dcterms:created xsi:type="dcterms:W3CDTF">2018-08-31T16:41:03Z</dcterms:created>
  <dcterms:modified xsi:type="dcterms:W3CDTF">2026-10-23T16:08:52Z</dcterms:modified>
</cp:coreProperties>
</file>